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Nunito ExtraLigh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d3bPi/tmDaz2ZuDT/ozrouJ6j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NunitoExtraLight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unitoExtraLight-italic.fntdata"/><Relationship Id="rId14" Type="http://schemas.openxmlformats.org/officeDocument/2006/relationships/font" Target="fonts/NunitoExtraLight-bold.fntdata"/><Relationship Id="rId17" Type="http://customschemas.google.com/relationships/presentationmetadata" Target="metadata"/><Relationship Id="rId16" Type="http://schemas.openxmlformats.org/officeDocument/2006/relationships/font" Target="fonts/NunitoExtra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jp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12192000" cy="1508322"/>
          </a:xfrm>
          <a:prstGeom prst="snip2DiagRect">
            <a:avLst>
              <a:gd fmla="val 50000" name="adj1"/>
              <a:gd fmla="val 13265" name="adj2"/>
            </a:avLst>
          </a:prstGeom>
          <a:noFill/>
          <a:ln cap="flat" cmpd="sng" w="38100">
            <a:solidFill>
              <a:srgbClr val="0F75B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52400" sx="90000" rotWithShape="0" dir="5400000" dist="317500" sy="-19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24290" y="5571560"/>
            <a:ext cx="879090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Aluna(o): 		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 do Aluno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Orientador(a): 	</a:t>
            </a: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Luiz Fernando M. Arruda, Me. Eng.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650389" y="2839739"/>
            <a:ext cx="8891221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lang="pt-BR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ítulo do Trabalho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3019196" y="289666"/>
            <a:ext cx="6153608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500" u="none" strike="noStrike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CENTRO UNIVERSITÁRIO AVANTIS - UNIAVAN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CURSO DE SISTEMAS DE INFORMAÇÃO</a:t>
            </a:r>
            <a:endParaRPr/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450" y="129640"/>
            <a:ext cx="1305161" cy="126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9779" y="5894705"/>
            <a:ext cx="2773371" cy="923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35002" y="120285"/>
            <a:ext cx="1456548" cy="126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 rot="5400000">
            <a:off x="-2746861" y="2746861"/>
            <a:ext cx="6858001" cy="1364280"/>
          </a:xfrm>
          <a:prstGeom prst="snip2DiagRect">
            <a:avLst>
              <a:gd fmla="val 50000" name="adj1"/>
              <a:gd fmla="val 13265" name="adj2"/>
            </a:avLst>
          </a:prstGeom>
          <a:noFill/>
          <a:ln cap="flat" cmpd="sng" w="38100">
            <a:solidFill>
              <a:srgbClr val="0F75B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52400" sx="90000" rotWithShape="0" dir="5400000" dist="317500" sy="-19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-2" y="6477274"/>
            <a:ext cx="422030" cy="380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600">
                <a:solidFill>
                  <a:srgbClr val="0F75BD"/>
                </a:solidFill>
              </a:rPr>
              <a:t>‹#›</a:t>
            </a:fld>
            <a:endParaRPr sz="1600">
              <a:solidFill>
                <a:srgbClr val="0F75BD"/>
              </a:solidFill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425252" y="-17140"/>
            <a:ext cx="176490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Tópicos</a:t>
            </a:r>
            <a:endParaRPr/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07" y="722892"/>
            <a:ext cx="1305161" cy="126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0259" y="4995639"/>
            <a:ext cx="1456548" cy="126775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1906969" y="1194356"/>
            <a:ext cx="4800305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Necessidade;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-536647" y="2749449"/>
            <a:ext cx="2426968" cy="1359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2"/>
          <p:cNvCxnSpPr/>
          <p:nvPr/>
        </p:nvCxnSpPr>
        <p:spPr>
          <a:xfrm>
            <a:off x="1537397" y="690746"/>
            <a:ext cx="7793639" cy="32146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8" name="Google Shape;10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8629" y="138702"/>
            <a:ext cx="2773371" cy="923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 rot="5400000">
            <a:off x="-2746861" y="2746861"/>
            <a:ext cx="6858001" cy="1364280"/>
          </a:xfrm>
          <a:prstGeom prst="snip2DiagRect">
            <a:avLst>
              <a:gd fmla="val 50000" name="adj1"/>
              <a:gd fmla="val 13265" name="adj2"/>
            </a:avLst>
          </a:prstGeom>
          <a:noFill/>
          <a:ln cap="flat" cmpd="sng" w="38100">
            <a:solidFill>
              <a:srgbClr val="0F75B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52400" sx="90000" rotWithShape="0" dir="5400000" dist="317500" sy="-19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>
            <p:ph idx="12" type="sldNum"/>
          </p:nvPr>
        </p:nvSpPr>
        <p:spPr>
          <a:xfrm>
            <a:off x="-2" y="6477274"/>
            <a:ext cx="422030" cy="380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600">
                <a:solidFill>
                  <a:srgbClr val="0F75BD"/>
                </a:solidFill>
              </a:rPr>
              <a:t>‹#›</a:t>
            </a:fld>
            <a:endParaRPr sz="1600">
              <a:solidFill>
                <a:srgbClr val="0F75BD"/>
              </a:solidFill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425252" y="-17140"/>
            <a:ext cx="25142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/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07" y="722892"/>
            <a:ext cx="1305161" cy="126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0259" y="4995639"/>
            <a:ext cx="1456548" cy="126775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1906969" y="1194356"/>
            <a:ext cx="4800305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Necessidade;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-536647" y="2749449"/>
            <a:ext cx="2426968" cy="1359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3"/>
          <p:cNvCxnSpPr/>
          <p:nvPr/>
        </p:nvCxnSpPr>
        <p:spPr>
          <a:xfrm>
            <a:off x="1537397" y="690746"/>
            <a:ext cx="7793639" cy="32146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1" name="Google Shape;12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8629" y="138702"/>
            <a:ext cx="2773371" cy="923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 rot="5400000">
            <a:off x="-2746861" y="2746861"/>
            <a:ext cx="6858001" cy="1364280"/>
          </a:xfrm>
          <a:prstGeom prst="snip2DiagRect">
            <a:avLst>
              <a:gd fmla="val 50000" name="adj1"/>
              <a:gd fmla="val 13265" name="adj2"/>
            </a:avLst>
          </a:prstGeom>
          <a:noFill/>
          <a:ln cap="flat" cmpd="sng" w="38100">
            <a:solidFill>
              <a:srgbClr val="0F75B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52400" sx="90000" rotWithShape="0" dir="5400000" dist="317500" sy="-19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>
            <p:ph idx="12" type="sldNum"/>
          </p:nvPr>
        </p:nvSpPr>
        <p:spPr>
          <a:xfrm>
            <a:off x="-2" y="6477274"/>
            <a:ext cx="422030" cy="380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600">
                <a:solidFill>
                  <a:srgbClr val="0F75BD"/>
                </a:solidFill>
              </a:rPr>
              <a:t>‹#›</a:t>
            </a:fld>
            <a:endParaRPr sz="1600">
              <a:solidFill>
                <a:srgbClr val="0F75BD"/>
              </a:solidFill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425252" y="-17140"/>
            <a:ext cx="367882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Estudo Proposto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07" y="722892"/>
            <a:ext cx="1305161" cy="126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0259" y="4995639"/>
            <a:ext cx="1456548" cy="1267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1906969" y="1194356"/>
            <a:ext cx="4800305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Necessidade; </a:t>
            </a:r>
            <a:endParaRPr/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-536647" y="2749449"/>
            <a:ext cx="2426968" cy="1359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4"/>
          <p:cNvCxnSpPr/>
          <p:nvPr/>
        </p:nvCxnSpPr>
        <p:spPr>
          <a:xfrm>
            <a:off x="1537397" y="690746"/>
            <a:ext cx="7793639" cy="32146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4" name="Google Shape;13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8629" y="138702"/>
            <a:ext cx="2773371" cy="923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 rot="5400000">
            <a:off x="-2746861" y="2746861"/>
            <a:ext cx="6858001" cy="1364280"/>
          </a:xfrm>
          <a:prstGeom prst="snip2DiagRect">
            <a:avLst>
              <a:gd fmla="val 50000" name="adj1"/>
              <a:gd fmla="val 13265" name="adj2"/>
            </a:avLst>
          </a:prstGeom>
          <a:noFill/>
          <a:ln cap="flat" cmpd="sng" w="38100">
            <a:solidFill>
              <a:srgbClr val="0F75B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52400" sx="90000" rotWithShape="0" dir="5400000" dist="317500" sy="-19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>
            <p:ph idx="12" type="sldNum"/>
          </p:nvPr>
        </p:nvSpPr>
        <p:spPr>
          <a:xfrm>
            <a:off x="-2" y="6477274"/>
            <a:ext cx="422030" cy="380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600">
                <a:solidFill>
                  <a:srgbClr val="0F75BD"/>
                </a:solidFill>
              </a:rPr>
              <a:t>‹#›</a:t>
            </a:fld>
            <a:endParaRPr sz="1600">
              <a:solidFill>
                <a:srgbClr val="0F75BD"/>
              </a:solidFill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1425252" y="-17140"/>
            <a:ext cx="251415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07" y="722892"/>
            <a:ext cx="1305161" cy="126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0259" y="4995639"/>
            <a:ext cx="1456548" cy="126775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1906969" y="1194356"/>
            <a:ext cx="4800305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Necessidade; </a:t>
            </a:r>
            <a:endParaRPr/>
          </a:p>
        </p:txBody>
      </p:sp>
      <p:pic>
        <p:nvPicPr>
          <p:cNvPr id="145" name="Google Shape;14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-536647" y="2749449"/>
            <a:ext cx="2426968" cy="1359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5"/>
          <p:cNvCxnSpPr/>
          <p:nvPr/>
        </p:nvCxnSpPr>
        <p:spPr>
          <a:xfrm>
            <a:off x="1537397" y="690746"/>
            <a:ext cx="7793639" cy="32146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7" name="Google Shape;14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8629" y="138702"/>
            <a:ext cx="2773371" cy="923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 rot="5400000">
            <a:off x="-2746861" y="2746861"/>
            <a:ext cx="6858001" cy="1364280"/>
          </a:xfrm>
          <a:prstGeom prst="snip2DiagRect">
            <a:avLst>
              <a:gd fmla="val 50000" name="adj1"/>
              <a:gd fmla="val 13265" name="adj2"/>
            </a:avLst>
          </a:prstGeom>
          <a:noFill/>
          <a:ln cap="flat" cmpd="sng" w="38100">
            <a:solidFill>
              <a:srgbClr val="0F75B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52400" sx="90000" rotWithShape="0" dir="5400000" dist="317500" sy="-19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>
            <p:ph idx="12" type="sldNum"/>
          </p:nvPr>
        </p:nvSpPr>
        <p:spPr>
          <a:xfrm>
            <a:off x="-2" y="6477274"/>
            <a:ext cx="422030" cy="380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600">
                <a:solidFill>
                  <a:srgbClr val="0F75BD"/>
                </a:solidFill>
              </a:rPr>
              <a:t>‹#›</a:t>
            </a:fld>
            <a:endParaRPr sz="1600">
              <a:solidFill>
                <a:srgbClr val="0F75BD"/>
              </a:solidFill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1425252" y="-17140"/>
            <a:ext cx="458715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Considerações Finais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07" y="722892"/>
            <a:ext cx="1305161" cy="126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0259" y="4995639"/>
            <a:ext cx="1456548" cy="126775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1906969" y="1194356"/>
            <a:ext cx="4800305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Necessidade; </a:t>
            </a:r>
            <a:endParaRPr/>
          </a:p>
        </p:txBody>
      </p:sp>
      <p:pic>
        <p:nvPicPr>
          <p:cNvPr id="158" name="Google Shape;15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-536647" y="2749449"/>
            <a:ext cx="2426968" cy="1359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6"/>
          <p:cNvCxnSpPr/>
          <p:nvPr/>
        </p:nvCxnSpPr>
        <p:spPr>
          <a:xfrm>
            <a:off x="1537397" y="690746"/>
            <a:ext cx="7793639" cy="32146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0" name="Google Shape;16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8629" y="138702"/>
            <a:ext cx="2773371" cy="923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 rot="5400000">
            <a:off x="-2746861" y="2746861"/>
            <a:ext cx="6858001" cy="1364280"/>
          </a:xfrm>
          <a:prstGeom prst="snip2DiagRect">
            <a:avLst>
              <a:gd fmla="val 50000" name="adj1"/>
              <a:gd fmla="val 13265" name="adj2"/>
            </a:avLst>
          </a:prstGeom>
          <a:noFill/>
          <a:ln cap="flat" cmpd="sng" w="38100">
            <a:solidFill>
              <a:srgbClr val="0F75B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52400" sx="90000" rotWithShape="0" dir="5400000" dist="317500" sy="-19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>
            <p:ph idx="12" type="sldNum"/>
          </p:nvPr>
        </p:nvSpPr>
        <p:spPr>
          <a:xfrm>
            <a:off x="-2" y="6477274"/>
            <a:ext cx="422030" cy="380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600">
                <a:solidFill>
                  <a:srgbClr val="0F75BD"/>
                </a:solidFill>
              </a:rPr>
              <a:t>‹#›</a:t>
            </a:fld>
            <a:endParaRPr sz="1600">
              <a:solidFill>
                <a:srgbClr val="0F75BD"/>
              </a:solidFill>
            </a:endParaRPr>
          </a:p>
        </p:txBody>
      </p:sp>
      <p:cxnSp>
        <p:nvCxnSpPr>
          <p:cNvPr id="167" name="Google Shape;167;p7"/>
          <p:cNvCxnSpPr/>
          <p:nvPr/>
        </p:nvCxnSpPr>
        <p:spPr>
          <a:xfrm>
            <a:off x="1537397" y="690746"/>
            <a:ext cx="7793639" cy="32146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8" name="Google Shape;168;p7"/>
          <p:cNvSpPr txBox="1"/>
          <p:nvPr/>
        </p:nvSpPr>
        <p:spPr>
          <a:xfrm>
            <a:off x="1425252" y="-17140"/>
            <a:ext cx="559973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 Bibliográficas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07" y="722892"/>
            <a:ext cx="1305161" cy="126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0259" y="4995639"/>
            <a:ext cx="1456548" cy="126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18629" y="138702"/>
            <a:ext cx="2773371" cy="923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-536647" y="2749449"/>
            <a:ext cx="2426968" cy="1359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1496451" y="690746"/>
            <a:ext cx="10380702" cy="5755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[1] Tamrakar, U et al. Virtual Inertia: Current Trends and Future Directions. Applied Sciences </a:t>
            </a:r>
            <a:r>
              <a:rPr i="0" lang="pt-BR" sz="16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2017 by the authors. Licensee MDPI, Basel, Switzerland. Published: 26 June 2017.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[2] </a:t>
            </a:r>
            <a:r>
              <a:rPr i="0" lang="pt-BR" sz="16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Rodriguez, P.; Candela, I.; Luna, A. Control of PV generation systems using the synchronous power controller. In Proceedings of the IEEE Energy Conversion Congress and Exposition (ECCE), Denver, CO, USA, 15–19 September 2013; pp. 993–998.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 </a:t>
            </a:r>
            <a:r>
              <a:rPr i="0" lang="pt-BR" sz="16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Rodriguez, C.; Candela, G.; Rocabert, D.; Teodorescu, R. Virtual Controller of Electromechanical Characteristics for Static Power Converters. U.S. Patent US20140067138 A1, 27 February 2012.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[4] </a:t>
            </a:r>
            <a:r>
              <a:rPr i="0" lang="pt-BR" sz="16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Cortés, P.; Garcia, J.; Delgado, J.; Teodorescu, R. Virtual Admittance Controller Based on Static Power Converters. U.S. Patent US20140049233 A1, 20 February 2014.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[5]</a:t>
            </a:r>
            <a:r>
              <a:rPr i="0" lang="pt-BR" sz="16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D’Arco, S.; Suul, J.A.; Fosso, O.B. Control system tuning and stability analysis of Virtual Synchronous Machines. In Proceedings of the IEEE Energy Conversion Congress and Exposition (ECCE), Denver, CO, USA, 15–19 September 2013; pp. 2664–2671.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[6]</a:t>
            </a:r>
            <a:r>
              <a:rPr i="0" lang="pt-BR" sz="16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Zhang, W.; Remon, D.; Mir, A.; Luna, A.; Rocabert, J.; Candela, I.; Rodriguez, P. Comparison of diferente power loop controllers for synchronous power controlled grid-interactive converters. In Proceedings of the IEEE Energy Conversion Congress and Exposition (ECCE), Montreal, QC, Canada, 20–24 September 2015; pp. 3780–3787.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[7]</a:t>
            </a:r>
            <a:r>
              <a:rPr i="0" lang="pt-BR" sz="16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Zhang, W.; Cantarellas, A.M.; Rocabert, J.; Luna, A.; Rodriguez, P. Synchronous Power Controller With Flexible Droop Characteristics for Renewable Power Generation Systems. IEEE Trans. Sustain. Energy 2016, 7, 1572–1582.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0" y="0"/>
            <a:ext cx="12192000" cy="1508322"/>
          </a:xfrm>
          <a:prstGeom prst="snip2DiagRect">
            <a:avLst>
              <a:gd fmla="val 50000" name="adj1"/>
              <a:gd fmla="val 13265" name="adj2"/>
            </a:avLst>
          </a:prstGeom>
          <a:noFill/>
          <a:ln cap="flat" cmpd="sng" w="38100">
            <a:solidFill>
              <a:srgbClr val="0F75B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52400" sx="90000" rotWithShape="0" dir="5400000" dist="317500" sy="-19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124290" y="5571560"/>
            <a:ext cx="879090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Aluna(o): 		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 do Aluno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Orientador(a): 	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Luiz Fernando M. Arruda, Me. Eng.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1650389" y="2839739"/>
            <a:ext cx="8891221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/>
          </a:p>
        </p:txBody>
      </p:sp>
      <p:sp>
        <p:nvSpPr>
          <p:cNvPr id="182" name="Google Shape;182;p8"/>
          <p:cNvSpPr txBox="1"/>
          <p:nvPr/>
        </p:nvSpPr>
        <p:spPr>
          <a:xfrm>
            <a:off x="3019196" y="289666"/>
            <a:ext cx="6153608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500" u="none" strike="noStrike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CENTRO UNIVERSITÁRIO AVANTIS - UNIAVAN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CURSO DE SISTEMAS DE INFORMAÇÃO</a:t>
            </a:r>
            <a:endParaRPr/>
          </a:p>
        </p:txBody>
      </p:sp>
      <p:pic>
        <p:nvPicPr>
          <p:cNvPr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450" y="129640"/>
            <a:ext cx="1305161" cy="126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9779" y="5894705"/>
            <a:ext cx="2773371" cy="923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35002" y="120285"/>
            <a:ext cx="1456548" cy="126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2021-09-18T01:47:35Z</dcterms:created>
  <dc:creator>Valdecir</dc:creator>
</cp:coreProperties>
</file>